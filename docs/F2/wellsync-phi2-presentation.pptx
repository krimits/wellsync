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WellSync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7BC67E"/>
                </a:solidFill>
                <a:latin typeface="Calibri"/>
              </a:rPr>
              <a:t>AI Holistic Wellness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Calibri"/>
              </a:rPr>
              <a:t>Ανάπτυξη Εφαρμογών Πληροφοριακών Συστημάτων  |  AUEB — Εαρινό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[Ονόματα ομάδας]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Γνωρίζεις πώς σε επηρεάζει ο ύπνος στην προπόνηση;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D4A"/>
                </a:solidFill>
                <a:latin typeface="Calibri"/>
              </a:rPr>
              <a:t>🍎 MyFitnessPal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Διατροφή μόνο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371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D4A"/>
                </a:solidFill>
                <a:latin typeface="Calibri"/>
              </a:rPr>
              <a:t>🚴 Strava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Workout μόνο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188720"/>
            <a:ext cx="3291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371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4D4A"/>
                </a:solidFill>
                <a:latin typeface="Calibri"/>
              </a:rPr>
              <a:t>🧘 Headspace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Mental health μόνο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✗ Καμία σύνδεση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A1A1A"/>
                </a:solidFill>
                <a:latin typeface="Calibri"/>
              </a:rPr>
              <a:t>• Κοιμάσαι 5h → πας γυμναστήριο → αποτυγχάνεις → δεν ξέρεις γιατί</a:t>
            </a:r>
          </a:p>
          <a:p>
            <a:r>
              <a:rPr sz="1700" b="0">
                <a:solidFill>
                  <a:srgbClr val="1A1A1A"/>
                </a:solidFill>
                <a:latin typeface="Calibri"/>
              </a:rPr>
              <a:t>• 3 εφαρμογές ανοιχτές — καμία δεν τις συνδέει</a:t>
            </a:r>
          </a:p>
          <a:p>
            <a:r>
              <a:rPr sz="1700" b="1">
                <a:solidFill>
                  <a:srgbClr val="1A1A1A"/>
                </a:solidFill>
                <a:latin typeface="Calibri"/>
              </a:rPr>
              <a:t>• Καμία δεν σε ξέρει πραγματικά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WellSync — Μία εφαρμογή που σε καταλαβαίνει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• Καθημερινό 2-λεπτο check-in: ύπνος · διάθεση · ενέργεια · στρες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• Καταγραφή προπόνησης και γευμάτων</a:t>
            </a:r>
          </a:p>
          <a:p>
            <a:r>
              <a:rPr sz="1600" b="1">
                <a:solidFill>
                  <a:srgbClr val="1A1A1A"/>
                </a:solidFill>
                <a:latin typeface="Calibri"/>
              </a:rPr>
              <a:t>• AI Readiness Score (0–100) κάθε πρωί</a:t>
            </a:r>
          </a:p>
          <a:p>
            <a:r>
              <a:rPr sz="1600" b="1">
                <a:solidFill>
                  <a:srgbClr val="1A1A1A"/>
                </a:solidFill>
                <a:latin typeface="Calibri"/>
              </a:rPr>
              <a:t>• Εξατομικευμένη σύσταση σε φυσική γλώσσα — όχι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005840"/>
            <a:ext cx="5943600" cy="384048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✨  AI Σύσταση (06:14)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A1A1A"/>
                </a:solidFill>
                <a:latin typeface="Calibri"/>
              </a:rPr>
              <a:t>"Κοιμήθηκες 5.5h και χθες ήταν
high intensity.
Σήμερα: yoga 20', πρωτεΐνη στο γεύμα.
Αποφύγαμε HIIT — επέστρεψε στη
ρουτίνα σου αύριο."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D4A"/>
                </a:solidFill>
                <a:latin typeface="Calibri"/>
              </a:rPr>
              <a:t>↑ Παράχθηκε για εσένα, σήμερα — δεν είναι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Η καθημερινή ροή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4114800"/>
          </a:xfrm>
          <a:prstGeom prst="rect">
            <a:avLst/>
          </a:prstGeom>
          <a:solidFill>
            <a:srgbClr val="F0F0EB"/>
          </a:solidFill>
          <a:ln w="1905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D4A"/>
                </a:solidFill>
                <a:latin typeface="Calibri"/>
              </a:rPr>
              <a:t>🌅 Πρωί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Calibri"/>
              </a:rPr>
              <a:t>• Check-in (2λ)</a:t>
            </a:r>
          </a:p>
          <a:p>
            <a:r>
              <a:rPr sz="1500" b="0">
                <a:solidFill>
                  <a:srgbClr val="1A1A1A"/>
                </a:solidFill>
                <a:latin typeface="Calibri"/>
              </a:rPr>
              <a:t>• 5 sliders</a:t>
            </a:r>
          </a:p>
          <a:p>
            <a:r>
              <a:rPr sz="1500" b="0">
                <a:solidFill>
                  <a:srgbClr val="1A1A1A"/>
                </a:solidFill>
                <a:latin typeface="Calibri"/>
              </a:rPr>
              <a:t>• → Readiness Score</a:t>
            </a:r>
          </a:p>
          <a:p>
            <a:r>
              <a:rPr sz="1500" b="0">
                <a:solidFill>
                  <a:srgbClr val="1A1A1A"/>
                </a:solidFill>
                <a:latin typeface="Calibri"/>
              </a:rPr>
              <a:t>• → AI Σύσταση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474720" cy="4114800"/>
          </a:xfrm>
          <a:prstGeom prst="rect">
            <a:avLst/>
          </a:prstGeom>
          <a:solidFill>
            <a:srgbClr val="F0F0EB"/>
          </a:solidFill>
          <a:ln w="1905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325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D4A"/>
                </a:solidFill>
                <a:latin typeface="Calibri"/>
              </a:rPr>
              <a:t>☀️ Μέρα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9202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Calibri"/>
              </a:rPr>
              <a:t>• Log Workout</a:t>
            </a:r>
          </a:p>
          <a:p>
            <a:r>
              <a:rPr sz="1500" b="0">
                <a:solidFill>
                  <a:srgbClr val="1A1A1A"/>
                </a:solidFill>
                <a:latin typeface="Calibri"/>
              </a:rPr>
              <a:t>• Log Meal</a:t>
            </a:r>
          </a:p>
          <a:p>
            <a:r>
              <a:rPr sz="1500" b="0">
                <a:solidFill>
                  <a:srgbClr val="1A1A1A"/>
                </a:solidFill>
                <a:latin typeface="Calibri"/>
              </a:rPr>
              <a:t>• &lt; 1 λεπτό/καταγραφή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188720"/>
            <a:ext cx="3474720" cy="4114800"/>
          </a:xfrm>
          <a:prstGeom prst="rect">
            <a:avLst/>
          </a:prstGeom>
          <a:solidFill>
            <a:srgbClr val="F0F0EB"/>
          </a:solidFill>
          <a:ln w="1905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39" y="1325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D4A"/>
                </a:solidFill>
                <a:latin typeface="Calibri"/>
              </a:rPr>
              <a:t>🌙 Βράδυ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39" y="19202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Calibri"/>
              </a:rPr>
              <a:t>• Insights screen</a:t>
            </a:r>
          </a:p>
          <a:p>
            <a:r>
              <a:rPr sz="1500" b="0">
                <a:solidFill>
                  <a:srgbClr val="1A1A1A"/>
                </a:solidFill>
                <a:latin typeface="Calibri"/>
              </a:rPr>
              <a:t>• Trend graphs</a:t>
            </a:r>
          </a:p>
          <a:p>
            <a:r>
              <a:rPr sz="1500" b="0">
                <a:solidFill>
                  <a:srgbClr val="1A1A1A"/>
                </a:solidFill>
                <a:latin typeface="Calibri"/>
              </a:rPr>
              <a:t>• "Ύπνος &gt; 7h → +23% energy"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BC67E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BC67E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ML που συνδέει τομείς — per-user, όχι generic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Calibri"/>
              </a:rPr>
              <a:t>• Ridge Regression ανά χρήστη (scikit-learn)</a:t>
            </a:r>
          </a:p>
          <a:p>
            <a:r>
              <a:rPr sz="1600" b="1">
                <a:solidFill>
                  <a:srgbClr val="1A1A1A"/>
                </a:solidFill>
                <a:latin typeface="Calibri"/>
              </a:rPr>
              <a:t>• Ανακαλύπτει ατομικά patterns:</a:t>
            </a:r>
          </a:p>
          <a:p>
            <a:r>
              <a:rPr sz="1400" b="0">
                <a:solidFill>
                  <a:srgbClr val="6B7280"/>
                </a:solidFill>
                <a:latin typeface="Calibri"/>
              </a:rPr>
              <a:t>    • Πόσο επηρεάζει ο δικός σου ύπνος την απόδοσή σου;</a:t>
            </a:r>
          </a:p>
          <a:p>
            <a:r>
              <a:rPr sz="1400" b="0">
                <a:solidFill>
                  <a:srgbClr val="6B7280"/>
                </a:solidFill>
                <a:latin typeface="Calibri"/>
              </a:rPr>
              <a:t>    • Πότε είσαι εσύ πιο productive στο gym;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• Cold start: rule-based formula (αξία από μέρα 1)</a:t>
            </a:r>
          </a:p>
          <a:p>
            <a:r>
              <a:rPr sz="1600" b="1">
                <a:solidFill>
                  <a:srgbClr val="1A1A1A"/>
                </a:solidFill>
                <a:latin typeface="Calibri"/>
              </a:rPr>
              <a:t>• Personalized mode: ενεργοποιείται μετά 14 ημέρες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097280"/>
            <a:ext cx="5303520" cy="274320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C67E"/>
                </a:solidFill>
                <a:latin typeface="Calibri"/>
              </a:rPr>
              <a:t>📊 Insight (για εσένα)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FFFF"/>
                </a:solidFill>
                <a:latin typeface="Calibri"/>
              </a:rPr>
              <a:t>"Ύπνος &lt; 6h
→ performance drop 38%
(Δικό σου μοντέλο, 21 samples)"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37760"/>
            <a:ext cx="4572000" cy="640080"/>
          </a:xfrm>
          <a:prstGeom prst="rect">
            <a:avLst/>
          </a:prstGeom>
          <a:solidFill>
            <a:srgbClr val="F0F0EB"/>
          </a:solidFill>
          <a:ln w="1270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Ημέρες 1–13: Rule-based  →  Ημέρες 14+: ✅ Personalized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Proactive AI — όχι passive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7548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⏰  Scheduler 06:00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47548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5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📬  Event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47548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🔀  Event Gateway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4754880" cy="594360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🤖  Morning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47548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✨  Claude AI (enriched prompt)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4754880" cy="594360"/>
          </a:xfrm>
          <a:prstGeom prst="rect">
            <a:avLst/>
          </a:prstGeom>
          <a:solidFill>
            <a:srgbClr val="108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💾  agent_outputs →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7190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4963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5079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280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1363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ML score  ·  RAG top-2 guidelines  ·  Prompt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0972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Calibri"/>
              </a:rPr>
              <a:t>• Το σύστημα δουλεύει ενώ εσύ κοιμάσαι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• 3 agents: πρωί · βράδυ · μεσάνυχτα (ML retraining)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• RAG: ανακτά επιστημονικές οδηγίες (ACSM/WHO)</a:t>
            </a:r>
          </a:p>
          <a:p>
            <a:r>
              <a:rPr sz="1600" b="1">
                <a:solidFill>
                  <a:srgbClr val="1A1A1A"/>
                </a:solidFill>
                <a:latin typeface="Calibri"/>
              </a:rPr>
              <a:t>• ML + RAG + Claude AI → evidence-based output</a:t>
            </a:r>
          </a:p>
          <a:p>
            <a:r>
              <a:rPr sz="1600" b="0">
                <a:solidFill>
                  <a:srgbClr val="1A1A1A"/>
                </a:solidFill>
                <a:latin typeface="Calibri"/>
              </a:rPr>
              <a:t>• Fallback: αν το AI αποτύχει → ML-only (πάντα δουλεύει)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Για ποιον είναι το WellSync;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Calibri"/>
              </a:rPr>
              <a:t>👤  Νίκος, 21 ετών — Φοιτητής AUEB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BC67E"/>
                </a:solidFill>
                <a:latin typeface="Calibri"/>
              </a:rPr>
              <a:t>✓  Πηγαίνει γυμναστήριο 2–3×/εβδ.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BC67E"/>
                </a:solidFill>
                <a:latin typeface="Calibri"/>
              </a:rPr>
              <a:t>✓  Ασκείται ημι-τακτικά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4444"/>
                </a:solidFill>
                <a:latin typeface="Calibri"/>
              </a:rPr>
              <a:t>✗  Ακανόνιστος ύπνος (εξεταστική)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4444"/>
                </a:solidFill>
                <a:latin typeface="Calibri"/>
              </a:rPr>
              <a:t>✗  Έχει εγκαταλείψει 3 wellness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9E0B"/>
                </a:solidFill>
                <a:latin typeface="Calibri"/>
              </a:rPr>
              <a:t>→  Θέλει εξήγηση, όχι απλά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4D4A"/>
                </a:solidFill>
                <a:latin typeface="Calibri"/>
              </a:rPr>
              <a:t>Αγορά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4D4A"/>
                </a:solidFill>
                <a:latin typeface="Calibri"/>
              </a:rPr>
              <a:t>5.6B$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Wellness app market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4D4A"/>
                </a:solidFill>
                <a:latin typeface="Calibri"/>
              </a:rPr>
              <a:t>15B$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Projected (2030)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4D4A"/>
                </a:solidFill>
                <a:latin typeface="Calibri"/>
              </a:rPr>
              <a:t>400K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Φοιτητές στην Ελλάδα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09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4D4A"/>
                </a:solidFill>
                <a:latin typeface="Calibri"/>
              </a:rPr>
              <a:t>1.8B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Millennials/Gen-Z με smartphone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Γιατί όχι τα υπάρχοντα;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097280"/>
            <a:ext cx="15544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188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Workout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97280"/>
            <a:ext cx="15544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188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Nutrition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097280"/>
            <a:ext cx="15544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188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Mental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0116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1887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Cross-domain
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097280"/>
            <a:ext cx="1554480" cy="594360"/>
          </a:xfrm>
          <a:prstGeom prst="rect">
            <a:avLst/>
          </a:prstGeom>
          <a:solidFill>
            <a:srgbClr val="1B4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188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Rec.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69164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783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MyFitnessPal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69164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1783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69164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783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9652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69164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1783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69164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783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69164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783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28600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Strava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28600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9652"/>
                </a:solidFill>
                <a:latin typeface="Calibr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28600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228600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28600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228600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288036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Headspace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288036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2971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88036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520" y="2971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288036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0" y="2971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59652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88036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2971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288036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2971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47472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566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Apple Health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47472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4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347472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052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347472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500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3474720"/>
            <a:ext cx="20116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3566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3474720"/>
            <a:ext cx="1554480" cy="594360"/>
          </a:xfrm>
          <a:prstGeom prst="rect">
            <a:avLst/>
          </a:prstGeom>
          <a:solidFill>
            <a:srgbClr val="F0F0E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8116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069080"/>
            <a:ext cx="2011680" cy="594360"/>
          </a:xfrm>
          <a:prstGeom prst="rect">
            <a:avLst/>
          </a:prstGeom>
          <a:solidFill>
            <a:srgbClr val="7BC6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D4A"/>
                </a:solidFill>
                <a:latin typeface="Calibri"/>
              </a:rPr>
              <a:t>WellSync 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069080"/>
            <a:ext cx="1554480" cy="594360"/>
          </a:xfrm>
          <a:prstGeom prst="rect">
            <a:avLst/>
          </a:prstGeom>
          <a:solidFill>
            <a:srgbClr val="7BC6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06040" y="4160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4069080"/>
            <a:ext cx="1554480" cy="594360"/>
          </a:xfrm>
          <a:prstGeom prst="rect">
            <a:avLst/>
          </a:prstGeom>
          <a:solidFill>
            <a:srgbClr val="7BC6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60520" y="4160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0" y="4069080"/>
            <a:ext cx="1554480" cy="594360"/>
          </a:xfrm>
          <a:prstGeom prst="rect">
            <a:avLst/>
          </a:prstGeom>
          <a:solidFill>
            <a:srgbClr val="7BC6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15000" y="4160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4069080"/>
            <a:ext cx="2011680" cy="594360"/>
          </a:xfrm>
          <a:prstGeom prst="rect">
            <a:avLst/>
          </a:prstGeom>
          <a:solidFill>
            <a:srgbClr val="7BC6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4069080"/>
            <a:ext cx="1554480" cy="594360"/>
          </a:xfrm>
          <a:prstGeom prst="rect">
            <a:avLst/>
          </a:prstGeom>
          <a:solidFill>
            <a:srgbClr val="7BC6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81160" y="4160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D4A"/>
                </a:solidFill>
                <a:latin typeface="Calibri"/>
              </a:rPr>
              <a:t>→ WellSync είναι το μόνο που συνδυάζει και τα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Πώς το χτίζουμε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949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Calibri"/>
              </a:rPr>
              <a:t>⚙️  Backend / ML /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• Python 3.10 + FastAPI</a:t>
            </a:r>
          </a:p>
          <a:p>
            <a:r>
              <a:rPr sz="1400" b="1">
                <a:solidFill>
                  <a:srgbClr val="1A1A1A"/>
                </a:solidFill>
                <a:latin typeface="Calibri"/>
              </a:rPr>
              <a:t>• PostgreSQL + pgvector (vector search)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• scikit-learn — Ridge Regression per user</a:t>
            </a:r>
          </a:p>
          <a:p>
            <a:r>
              <a:rPr sz="1400" b="1">
                <a:solidFill>
                  <a:srgbClr val="1A1A1A"/>
                </a:solidFill>
                <a:latin typeface="Calibri"/>
              </a:rPr>
              <a:t>• sentence-transformers (semantic embeddings)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• APScheduler + asyncio Queue</a:t>
            </a:r>
          </a:p>
          <a:p>
            <a:r>
              <a:rPr sz="1400" b="1">
                <a:solidFill>
                  <a:srgbClr val="1A1A1A"/>
                </a:solidFill>
                <a:latin typeface="Calibri"/>
              </a:rPr>
              <a:t>• Claude AI API (Anthropic) — LLM συστάσεις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51560"/>
            <a:ext cx="53949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C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4D4A"/>
                </a:solidFill>
                <a:latin typeface="Calibri"/>
              </a:rPr>
              <a:t>🖥️  Frontend /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Calibri"/>
              </a:rPr>
              <a:t>• React 18 + Vite (SPA)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• Chart.js — trend graphs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• JWT Authentication (python-jose)</a:t>
            </a:r>
          </a:p>
          <a:p>
            <a:r>
              <a:rPr sz="1400" b="1">
                <a:solidFill>
                  <a:srgbClr val="1A1A1A"/>
                </a:solidFill>
                <a:latin typeface="Calibri"/>
              </a:rPr>
              <a:t>• Docker Compose (3 containers)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• docker compose up --build → τρέχει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React  ↔  FastAPI  ↔  PostgreSQL+pgvector
         ↕              ↕
    ML Engine     Claude AI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4D4A"/>
                </a:solidFill>
                <a:latin typeface="Calibri"/>
              </a:rPr>
              <a:t>Πού είμαστε — Πού πάμε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54864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127248"/>
            <a:ext cx="987552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926080"/>
            <a:ext cx="457200" cy="457200"/>
          </a:xfrm>
          <a:prstGeom prst="rect">
            <a:avLst/>
          </a:prstGeom>
          <a:solidFill>
            <a:srgbClr val="7BC67E"/>
          </a:solidFill>
          <a:ln w="25400">
            <a:solidFill>
              <a:srgbClr val="1B4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4D4A"/>
                </a:solidFill>
                <a:latin typeface="Calibri"/>
              </a:rPr>
              <a:t>Φεβρ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Ιδέα +
Αρχιτεκτονική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2926080"/>
            <a:ext cx="457200" cy="457200"/>
          </a:xfrm>
          <a:prstGeom prst="rect">
            <a:avLst/>
          </a:prstGeom>
          <a:solidFill>
            <a:srgbClr val="7BC67E"/>
          </a:solidFill>
          <a:ln w="25400">
            <a:solidFill>
              <a:srgbClr val="1B4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4D4A"/>
                </a:solidFill>
                <a:latin typeface="Calibri"/>
              </a:rPr>
              <a:t>Μάρτιος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Φ1 Φόρμα ✓
Φ2 Παρουσίαση ← ΤΩΡΑ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926080"/>
            <a:ext cx="457200" cy="457200"/>
          </a:xfrm>
          <a:prstGeom prst="rect">
            <a:avLst/>
          </a:prstGeom>
          <a:solidFill>
            <a:srgbClr val="F0F0EB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Απρίλιος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Φ3: Technical
Design + Mockups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926080"/>
            <a:ext cx="457200" cy="457200"/>
          </a:xfrm>
          <a:prstGeom prst="rect">
            <a:avLst/>
          </a:prstGeom>
          <a:solidFill>
            <a:srgbClr val="F0F0EB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Μάιος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Φ4: Υλοποίηση
+ Live Demo 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4D4A"/>
                </a:solidFill>
                <a:latin typeface="Calibri"/>
              </a:rPr>
              <a:t>Demo Φ4: live check-in → AI agent → εξατομικευμένη σύσταση — ζωντανά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WellSync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7BC67E"/>
                </a:solidFill>
                <a:latin typeface="Calibri"/>
              </a:rPr>
              <a:t>"Γνώρισε τον εαυτό σου — μέσα από τα δεδομένα σου."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[Ονόματα ομάδας]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Ερωτήσεις;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B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